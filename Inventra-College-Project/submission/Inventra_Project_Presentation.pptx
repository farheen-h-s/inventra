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5af2311dc4cba" /><Relationship Type="http://schemas.openxmlformats.org/officeDocument/2006/relationships/extended-properties" Target="/docProps/app.xml" Id="Rf0e2e5f917a24331" /><Relationship Type="http://schemas.openxmlformats.org/officeDocument/2006/relationships/officeDocument" Target="/ppt/presentation.xml" Id="R3d02e1901e9f47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df56d9666e4463"/>
  </p:sldMasterIdLst>
  <p:notesMasterIdLst>
    <p:notesMasterId xmlns:r="http://schemas.openxmlformats.org/officeDocument/2006/relationships" r:id="R6c9de4eabfae422d"/>
  </p:notesMasterIdLst>
  <p:sldIdLst>
    <p:sldId xmlns:r="http://schemas.openxmlformats.org/officeDocument/2006/relationships" id="256" r:id="R78b555c305844494"/>
    <p:sldId xmlns:r="http://schemas.openxmlformats.org/officeDocument/2006/relationships" id="257" r:id="R32e35ade1c964257"/>
    <p:sldId xmlns:r="http://schemas.openxmlformats.org/officeDocument/2006/relationships" id="258" r:id="R0817e8bdc8a74ffa"/>
    <p:sldId xmlns:r="http://schemas.openxmlformats.org/officeDocument/2006/relationships" id="259" r:id="Rcf689183070c4fe9"/>
    <p:sldId xmlns:r="http://schemas.openxmlformats.org/officeDocument/2006/relationships" id="260" r:id="R75fa707aa4e64157"/>
    <p:sldId xmlns:r="http://schemas.openxmlformats.org/officeDocument/2006/relationships" id="261" r:id="Rd34074323942415d"/>
    <p:sldId xmlns:r="http://schemas.openxmlformats.org/officeDocument/2006/relationships" id="262" r:id="R73a4d90260ce4c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b2238548fc4aee" /><Relationship Type="http://schemas.openxmlformats.org/officeDocument/2006/relationships/slideMaster" Target="/ppt/slideMasters/slideMaster1.xml" Id="Racdf56d9666e4463" /><Relationship Type="http://schemas.openxmlformats.org/officeDocument/2006/relationships/notesMaster" Target="/ppt/notesMasters/notesMaster1.xml" Id="R6c9de4eabfae422d" /><Relationship Type="http://schemas.openxmlformats.org/officeDocument/2006/relationships/presProps" Target="/ppt/presProps.xml" Id="R14116b3b332b42d3" /><Relationship Type="http://schemas.openxmlformats.org/officeDocument/2006/relationships/tableStyles" Target="/ppt/tableStyles.xml" Id="Rdcef1151bdff4fd8" /><Relationship Type="http://schemas.openxmlformats.org/officeDocument/2006/relationships/slide" Target="/ppt/slides/slide1.xml" Id="R78b555c305844494" /><Relationship Type="http://schemas.openxmlformats.org/officeDocument/2006/relationships/slide" Target="/ppt/slides/slide2.xml" Id="R32e35ade1c964257" /><Relationship Type="http://schemas.openxmlformats.org/officeDocument/2006/relationships/slide" Target="/ppt/slides/slide3.xml" Id="R0817e8bdc8a74ffa" /><Relationship Type="http://schemas.openxmlformats.org/officeDocument/2006/relationships/slide" Target="/ppt/slides/slide4.xml" Id="Rcf689183070c4fe9" /><Relationship Type="http://schemas.openxmlformats.org/officeDocument/2006/relationships/slide" Target="/ppt/slides/slide5.xml" Id="R75fa707aa4e64157" /><Relationship Type="http://schemas.openxmlformats.org/officeDocument/2006/relationships/slide" Target="/ppt/slides/slide6.xml" Id="Rd34074323942415d" /><Relationship Type="http://schemas.openxmlformats.org/officeDocument/2006/relationships/slide" Target="/ppt/slides/slide7.xml" Id="R73a4d90260ce4c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ef6b4736b0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937ff872247d6" /><Relationship Type="http://schemas.openxmlformats.org/officeDocument/2006/relationships/notesMaster" Target="/ppt/notesMasters/notesMaster1.xml" Id="R341865dd025a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f0701226114e37" /><Relationship Type="http://schemas.openxmlformats.org/officeDocument/2006/relationships/notesMaster" Target="/ppt/notesMasters/notesMaster1.xml" Id="R080cadb4024d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2695f8c8a04bdf" /><Relationship Type="http://schemas.openxmlformats.org/officeDocument/2006/relationships/notesMaster" Target="/ppt/notesMasters/notesMaster1.xml" Id="R483d69ac62fb43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83eb4d862f4ae0" /><Relationship Type="http://schemas.openxmlformats.org/officeDocument/2006/relationships/notesMaster" Target="/ppt/notesMasters/notesMaster1.xml" Id="R42e4faf1f4c746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306d9bb35848cf" /><Relationship Type="http://schemas.openxmlformats.org/officeDocument/2006/relationships/notesMaster" Target="/ppt/notesMasters/notesMaster1.xml" Id="Rec2bc7d4737443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ada28661814af2" /><Relationship Type="http://schemas.openxmlformats.org/officeDocument/2006/relationships/notesMaster" Target="/ppt/notesMasters/notesMaster1.xml" Id="R8a2bf0e17af343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669973ee864a55" /><Relationship Type="http://schemas.openxmlformats.org/officeDocument/2006/relationships/notesMaster" Target="/ppt/notesMasters/notesMaster1.xml" Id="R5a21674a3e6a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Inventra as a focused college project. Replace the student, roll number, department, institute and academic year fields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problem statement and scope are based on the Inventra MVP reference provided with the assignment. The app is intended as an academic local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application in the same order: inventory import, count entry, calculation, review and report. Variance equals physical quantity minus expected quantity.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actual project architecture. SQLite is intended for a local, single-process academic demonstration. The README documents what changes are needed before real client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numerical examples come from the supplied Inventra MVP reference. Variance = physical quantity − expected quantity. Use neutral language; Inventra does not claim that a difference means stock is missing.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npm install, npm run seed and npm start from the project folder. Open http://localhost:3000. Demo account: demo@inventra.local / InventraDemo2026!. The seed script resets only the reserved demo account's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project outcome and its limits. The current project uses fictional demo data and has not been deployed for a real client. Have a real organization review the application before completing the utility certificate.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6d8a8e20247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95e067a3b41a6" /><Relationship Type="http://schemas.openxmlformats.org/officeDocument/2006/relationships/slideLayout" Target="/ppt/slideLayouts/slideLayout1.xml" Id="R96b7ccac4ea8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7ccac4ea8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daaffd198487a" /><Relationship Type="http://schemas.openxmlformats.org/officeDocument/2006/relationships/notesSlide" Target="/ppt/notesSlides/notesSlide1.xml" Id="R0a5558e5a63946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6b08918fd4105" /><Relationship Type="http://schemas.openxmlformats.org/officeDocument/2006/relationships/notesSlide" Target="/ppt/notesSlides/notesSlide2.xml" Id="R78a499fe6c0a48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256e3ec1340db" /><Relationship Type="http://schemas.openxmlformats.org/officeDocument/2006/relationships/notesSlide" Target="/ppt/notesSlides/notesSlide3.xml" Id="R642b54123dc545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01e039c2d42b6" /><Relationship Type="http://schemas.openxmlformats.org/officeDocument/2006/relationships/notesSlide" Target="/ppt/notesSlides/notesSlide4.xml" Id="R77cc43ea0aaf44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e47cc045e4f00" /><Relationship Type="http://schemas.openxmlformats.org/officeDocument/2006/relationships/notesSlide" Target="/ppt/notesSlides/notesSlide5.xml" Id="Rf1a734a38e6644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0d5485c7b4aa5" /><Relationship Type="http://schemas.openxmlformats.org/officeDocument/2006/relationships/notesSlide" Target="/ppt/notesSlides/notesSlide6.xml" Id="Rc6fb4c7cdd6a43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7ae1d778d44e3" /><Relationship Type="http://schemas.openxmlformats.org/officeDocument/2006/relationships/notesSlide" Target="/ppt/notesSlides/notesSlide7.xml" Id="R7fc67ae243eb45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1F5E645E-D78F-423A-95BB-D8C42309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9C8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8B8"/>
                </a:solidFill>
                <a:latin typeface="Arial"/>
                <a:ea typeface="Arial"/>
                <a:cs typeface="Arial"/>
              </a:rPr>
              <a:t>SECOND YEAR MINI PROJECT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176843EB-326D-4158-87C4-430F7000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5252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751"/>
          </a:solidFill>
          <a:ln xmlns:a="http://schemas.openxmlformats.org/drawingml/2006/main" w="9525">
            <a:solidFill>
              <a:srgbClr val="DC8751"/>
            </a:solidFill>
            <a:prstDash val="solid"/>
          </a:ln>
        </p:spPr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9852882-969A-4F80-846C-3EB6DD16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1239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Inventra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A1AAD37-D30A-480C-B0AF-4BE27F6B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75" b="1">
                <a:solidFill>
                  <a:srgbClr val="D5E7D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D5E7DB"/>
                </a:solidFill>
                <a:latin typeface="Arial"/>
                <a:ea typeface="Arial"/>
                <a:cs typeface="Arial"/>
              </a:rPr>
              <a:t>Stock Reconciliation System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D7809C8-DE40-4F53-9986-EE25B47D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Count. Compare. Reconcile.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BA4B734-EB96-4F97-93C1-E4B12974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695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B7C9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9C0"/>
                </a:solidFill>
                <a:latin typeface="Arial"/>
                <a:ea typeface="Arial"/>
                <a:cs typeface="Arial"/>
              </a:rPr>
              <a:t>A Node.js and Express web application for physical stock counts and variance review.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87B0AEA-DDBB-4CC5-A16A-908025EA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[Student Name]  ·  [Roll Number]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ED39F5EE-6198-4CE3-9FCB-D1B1285F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A9C0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0B5"/>
                </a:solidFill>
                <a:latin typeface="Arial"/>
                <a:ea typeface="Arial"/>
                <a:cs typeface="Arial"/>
              </a:rPr>
              <a:t>[Department]  ·  [Institute]  ·  [Academic Year]</a:t>
            </a:r>
          </a:p>
        </p:txBody>
      </p:sp>
      <p:sp>
        <p:nvSpPr>
          <p:cNvPr id="9" name="rule-9">
            <a:extLst xmlns:a="http://schemas.openxmlformats.org/drawingml/2006/main">
              <a:ext uri="{FF2B5EF4-FFF2-40B4-BE49-F238E27FC236}">
                <a16:creationId xmlns:a16="http://schemas.microsoft.com/office/drawing/2014/main" id="{599FA326-B8E1-4913-AB05-EB4E1FF1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047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53911189-BB27-489D-8E44-C50945B3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FB9A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9AC"/>
                </a:solidFill>
                <a:latin typeface="Arial"/>
                <a:ea typeface="Arial"/>
                <a:cs typeface="Arial"/>
              </a:rPr>
              <a:t>INVENTRA  ·  SECOND YEAR MINI PROJECT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36513AB8-2F36-4F23-A22E-5F65FBF2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FB9A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9A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4045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EDA9989-7219-48EB-9F3B-49EA7E57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Project problem and goal</a:t>
            </a:r>
          </a:p>
        </p:txBody>
      </p:sp>
      <p:sp>
        <p:nvSpPr>
          <p:cNvPr id="2" name="text-12">
            <a:extLst xmlns:a="http://schemas.openxmlformats.org/drawingml/2006/main">
              <a:ext uri="{FF2B5EF4-FFF2-40B4-BE49-F238E27FC236}">
                <a16:creationId xmlns:a16="http://schemas.microsoft.com/office/drawing/2014/main" id="{6263A45D-3897-4434-9EDF-FEF1788B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The MVP focuses on comparing existing records with a physical stock count.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7D489C79-B9BF-4366-8E68-C17BC63F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4" name="text-14">
            <a:extLst xmlns:a="http://schemas.openxmlformats.org/drawingml/2006/main">
              <a:ext uri="{FF2B5EF4-FFF2-40B4-BE49-F238E27FC236}">
                <a16:creationId xmlns:a16="http://schemas.microsoft.com/office/drawing/2014/main" id="{A3A8F88D-8047-499F-A8EB-613FE314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INVENTRA  ·  SECOND YEAR MINI PROJECT</a:t>
            </a:r>
          </a:p>
        </p:txBody>
      </p:sp>
      <p:sp>
        <p:nvSpPr>
          <p:cNvPr id="5" name="text-15">
            <a:extLst xmlns:a="http://schemas.openxmlformats.org/drawingml/2006/main">
              <a:ext uri="{FF2B5EF4-FFF2-40B4-BE49-F238E27FC236}">
                <a16:creationId xmlns:a16="http://schemas.microsoft.com/office/drawing/2014/main" id="{677E8F01-0179-40B9-B7D3-9FEEC86E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DDA9656A-E6F3-4DD8-8D8E-107324F8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8DFE9EF4-A61B-402B-9879-FCD74975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619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Recorded stock and physical stock can differ.</a:t>
            </a:r>
          </a:p>
        </p:txBody>
      </p:sp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983E29EE-7055-4555-8C06-C8982B0B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6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Finding the differences in spreadsheets can take time and leave a business without one clear review list.</a:t>
            </a:r>
          </a:p>
        </p:txBody>
      </p:sp>
      <p:sp>
        <p:nvSpPr>
          <p:cNvPr id="9" name="rule-19">
            <a:extLst xmlns:a="http://schemas.openxmlformats.org/drawingml/2006/main">
              <a:ext uri="{FF2B5EF4-FFF2-40B4-BE49-F238E27FC236}">
                <a16:creationId xmlns:a16="http://schemas.microsoft.com/office/drawing/2014/main" id="{2F6CB025-71E3-4B5F-B747-D4718BDD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4787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10" name="shape-20">
            <a:extLst xmlns:a="http://schemas.openxmlformats.org/drawingml/2006/main">
              <a:ext uri="{FF2B5EF4-FFF2-40B4-BE49-F238E27FC236}">
                <a16:creationId xmlns:a16="http://schemas.microsoft.com/office/drawing/2014/main" id="{4BA65C4C-DB23-4D4D-8F76-5E9C4533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47875"/>
            <a:ext cx="9525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D"/>
          </a:solidFill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11" name="text-21">
            <a:extLst xmlns:a="http://schemas.openxmlformats.org/drawingml/2006/main">
              <a:ext uri="{FF2B5EF4-FFF2-40B4-BE49-F238E27FC236}">
                <a16:creationId xmlns:a16="http://schemas.microsoft.com/office/drawing/2014/main" id="{EA430014-A7E7-4712-942E-84DC5C8F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28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THE PROJECT QUESTION</a:t>
            </a:r>
          </a:p>
        </p:txBody>
      </p:sp>
      <p:sp>
        <p:nvSpPr>
          <p:cNvPr id="12" name="text-22">
            <a:extLst xmlns:a="http://schemas.openxmlformats.org/drawingml/2006/main">
              <a:ext uri="{FF2B5EF4-FFF2-40B4-BE49-F238E27FC236}">
                <a16:creationId xmlns:a16="http://schemas.microsoft.com/office/drawing/2014/main" id="{93775E52-3C22-494D-BA4F-0A5BCC8F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Can a business load its stock records, count what is there, and quickly see which items need review?</a:t>
            </a:r>
          </a:p>
        </p:txBody>
      </p:sp>
      <p:sp>
        <p:nvSpPr>
          <p:cNvPr id="13" name="text-23">
            <a:extLst xmlns:a="http://schemas.openxmlformats.org/drawingml/2006/main">
              <a:ext uri="{FF2B5EF4-FFF2-40B4-BE49-F238E27FC236}">
                <a16:creationId xmlns:a16="http://schemas.microsoft.com/office/drawing/2014/main" id="{41FC26DE-6A3D-4BEF-8880-0978E35B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81450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Inventra answers this with a small reconciliation workflow. It works with the current stock list instead of replacing it.</a:t>
            </a:r>
          </a:p>
        </p:txBody>
      </p:sp>
      <p:sp>
        <p:nvSpPr>
          <p:cNvPr id="14" name="text-24">
            <a:extLst xmlns:a="http://schemas.openxmlformats.org/drawingml/2006/main">
              <a:ext uri="{FF2B5EF4-FFF2-40B4-BE49-F238E27FC236}">
                <a16:creationId xmlns:a16="http://schemas.microsoft.com/office/drawing/2014/main" id="{0AE7708B-8D5F-45E8-A171-EE465ECB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15" name="text-25">
            <a:extLst xmlns:a="http://schemas.openxmlformats.org/drawingml/2006/main">
              <a:ext uri="{FF2B5EF4-FFF2-40B4-BE49-F238E27FC236}">
                <a16:creationId xmlns:a16="http://schemas.microsoft.com/office/drawing/2014/main" id="{4D55AF8F-6BD7-4F21-8212-85F591B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Manual count  ·  CSV import  ·  Variance report  ·  Saved history</a:t>
            </a:r>
          </a:p>
        </p:txBody>
      </p:sp>
    </p:spTree>
    <p:extLst>
      <p:ext uri="{BB962C8B-B14F-4D97-AF65-F5344CB8AC3E}">
        <p14:creationId xmlns:p14="http://schemas.microsoft.com/office/powerpoint/2010/main" val="1727060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0BFCA7D-CE20-4E74-BF29-2B96DF79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Count and compare workflow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9A9E2AB5-BB17-4737-BE6A-0C2A86DA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One saved count moves from existing stock data to a report for human review.</a:t>
            </a:r>
          </a:p>
        </p:txBody>
      </p:sp>
      <p:sp>
        <p:nvSpPr>
          <p:cNvPr id="3" name="rule-27">
            <a:extLst xmlns:a="http://schemas.openxmlformats.org/drawingml/2006/main">
              <a:ext uri="{FF2B5EF4-FFF2-40B4-BE49-F238E27FC236}">
                <a16:creationId xmlns:a16="http://schemas.microsoft.com/office/drawing/2014/main" id="{B0BBED84-DB4F-48AA-96F0-16F113E9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BD9B634B-CDD1-403B-9CE7-96F37E3F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INVENTRA  ·  SECOND YEAR MINI PROJECT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17E7B47E-2D62-476A-B245-9930943D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shape-30">
            <a:extLst xmlns:a="http://schemas.openxmlformats.org/drawingml/2006/main">
              <a:ext uri="{FF2B5EF4-FFF2-40B4-BE49-F238E27FC236}">
                <a16:creationId xmlns:a16="http://schemas.microsoft.com/office/drawing/2014/main" id="{5C135746-4102-4B32-9E62-9ADCF21F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905000" cy="1981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D8E6DA"/>
            </a:solidFill>
            <a:prstDash val="solid"/>
          </a:ln>
        </p:spPr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97EC24F0-1FF1-4B95-B18C-0087ED65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38425"/>
            <a:ext cx="438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94F66E01-5F2A-46B7-85D3-D3A6A3A9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289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Existing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EED9563E-565C-4ECC-AE49-03BD64A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24275"/>
            <a:ext cx="1581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CSV import or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manual entry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93756ABA-0590-4782-B279-5708AD6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861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DC875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C87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shape-35">
            <a:extLst xmlns:a="http://schemas.openxmlformats.org/drawingml/2006/main">
              <a:ext uri="{FF2B5EF4-FFF2-40B4-BE49-F238E27FC236}">
                <a16:creationId xmlns:a16="http://schemas.microsoft.com/office/drawing/2014/main" id="{9B3BC236-7853-4821-A7EA-6407D422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86025"/>
            <a:ext cx="1905000" cy="1981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D8E6DA"/>
            </a:solidFill>
            <a:prstDash val="solid"/>
          </a:ln>
        </p:spPr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C47075FA-03CB-4E3E-8886-E104271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38425"/>
            <a:ext cx="438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-37">
            <a:extLst xmlns:a="http://schemas.openxmlformats.org/drawingml/2006/main">
              <a:ext uri="{FF2B5EF4-FFF2-40B4-BE49-F238E27FC236}">
                <a16:creationId xmlns:a16="http://schemas.microsoft.com/office/drawing/2014/main" id="{44553570-265E-4D6C-8BD0-E2FACAB4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289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Physical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14" name="text-38">
            <a:extLst xmlns:a="http://schemas.openxmlformats.org/drawingml/2006/main">
              <a:ext uri="{FF2B5EF4-FFF2-40B4-BE49-F238E27FC236}">
                <a16:creationId xmlns:a16="http://schemas.microsoft.com/office/drawing/2014/main" id="{E257E2C4-DCE1-4C4F-A523-F5129E70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24275"/>
            <a:ext cx="1581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Enter the actual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quantity</a:t>
            </a:r>
          </a:p>
        </p:txBody>
      </p:sp>
      <p:sp>
        <p:nvSpPr>
          <p:cNvPr id="15" name="text-39">
            <a:extLst xmlns:a="http://schemas.openxmlformats.org/drawingml/2006/main">
              <a:ext uri="{FF2B5EF4-FFF2-40B4-BE49-F238E27FC236}">
                <a16:creationId xmlns:a16="http://schemas.microsoft.com/office/drawing/2014/main" id="{5FB8D054-793E-4077-81B0-5E527A23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861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DC875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C87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shape-40">
            <a:extLst xmlns:a="http://schemas.openxmlformats.org/drawingml/2006/main">
              <a:ext uri="{FF2B5EF4-FFF2-40B4-BE49-F238E27FC236}">
                <a16:creationId xmlns:a16="http://schemas.microsoft.com/office/drawing/2014/main" id="{0925C753-1729-413B-A5C8-71409835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86025"/>
            <a:ext cx="1905000" cy="1981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41F"/>
          </a:solidFill>
          <a:ln xmlns:a="http://schemas.openxmlformats.org/drawingml/2006/main" w="9525">
            <a:solidFill>
              <a:srgbClr val="10241F"/>
            </a:solidFill>
            <a:prstDash val="solid"/>
          </a:ln>
        </p:spPr>
      </p: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3130D49B-D5F9-4F61-8DBB-AAD8D92B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38425"/>
            <a:ext cx="438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B6D9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D9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5CB56E9B-2BDC-4E36-A9AA-61353D7F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289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0D418836-3F1E-409E-BFFB-EB4340E1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24275"/>
            <a:ext cx="1581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C3D6C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6CB"/>
                </a:solidFill>
                <a:latin typeface="Arial"/>
                <a:ea typeface="Arial"/>
                <a:cs typeface="Arial"/>
              </a:rPr>
              <a:t>Calculate the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C3D6C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6CB"/>
                </a:solidFill>
                <a:latin typeface="Arial"/>
                <a:ea typeface="Arial"/>
                <a:cs typeface="Arial"/>
              </a:rPr>
              <a:t>quantity difference</a:t>
            </a:r>
          </a:p>
        </p:txBody>
      </p:sp>
      <p:sp>
        <p:nvSpPr>
          <p:cNvPr id="20" name="text-44">
            <a:extLst xmlns:a="http://schemas.openxmlformats.org/drawingml/2006/main">
              <a:ext uri="{FF2B5EF4-FFF2-40B4-BE49-F238E27FC236}">
                <a16:creationId xmlns:a16="http://schemas.microsoft.com/office/drawing/2014/main" id="{69519119-4023-46E9-90CC-2DEE7D92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861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DC875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C87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shape-45">
            <a:extLst xmlns:a="http://schemas.openxmlformats.org/drawingml/2006/main">
              <a:ext uri="{FF2B5EF4-FFF2-40B4-BE49-F238E27FC236}">
                <a16:creationId xmlns:a16="http://schemas.microsoft.com/office/drawing/2014/main" id="{1E2F421C-E1E2-4935-B128-73D30E28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86025"/>
            <a:ext cx="1905000" cy="1981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D8E6DA"/>
            </a:solidFill>
            <a:prstDash val="solid"/>
          </a:ln>
        </p:spPr>
      </p:sp>
      <p:sp>
        <p:nvSpPr>
          <p:cNvPr id="22" name="text-46">
            <a:extLst xmlns:a="http://schemas.openxmlformats.org/drawingml/2006/main">
              <a:ext uri="{FF2B5EF4-FFF2-40B4-BE49-F238E27FC236}">
                <a16:creationId xmlns:a16="http://schemas.microsoft.com/office/drawing/2014/main" id="{7F96E215-E990-45AF-8F8A-3AF02AF9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638425"/>
            <a:ext cx="438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7B8C970C-94F9-49B3-8036-67095FB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289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4" name="text-48">
            <a:extLst xmlns:a="http://schemas.openxmlformats.org/drawingml/2006/main">
              <a:ext uri="{FF2B5EF4-FFF2-40B4-BE49-F238E27FC236}">
                <a16:creationId xmlns:a16="http://schemas.microsoft.com/office/drawing/2014/main" id="{47DBD216-A44A-417A-9431-1CB02CC7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724275"/>
            <a:ext cx="1581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Flag non-zero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variances</a:t>
            </a:r>
          </a:p>
        </p:txBody>
      </p:sp>
      <p:sp>
        <p:nvSpPr>
          <p:cNvPr id="25" name="text-49">
            <a:extLst xmlns:a="http://schemas.openxmlformats.org/drawingml/2006/main">
              <a:ext uri="{FF2B5EF4-FFF2-40B4-BE49-F238E27FC236}">
                <a16:creationId xmlns:a16="http://schemas.microsoft.com/office/drawing/2014/main" id="{E7FC8906-1FA8-4868-858F-2C9A7A8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861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DC875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C87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-50">
            <a:extLst xmlns:a="http://schemas.openxmlformats.org/drawingml/2006/main">
              <a:ext uri="{FF2B5EF4-FFF2-40B4-BE49-F238E27FC236}">
                <a16:creationId xmlns:a16="http://schemas.microsoft.com/office/drawing/2014/main" id="{940155C9-C7FA-46C0-BEFC-443CEB39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86025"/>
            <a:ext cx="1905000" cy="1981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D8E6DA"/>
            </a:solidFill>
            <a:prstDash val="solid"/>
          </a:ln>
        </p:spPr>
      </p:sp>
      <p:sp>
        <p:nvSpPr>
          <p:cNvPr id="27" name="text-51">
            <a:extLst xmlns:a="http://schemas.openxmlformats.org/drawingml/2006/main">
              <a:ext uri="{FF2B5EF4-FFF2-40B4-BE49-F238E27FC236}">
                <a16:creationId xmlns:a16="http://schemas.microsoft.com/office/drawing/2014/main" id="{D6C525B5-EF4E-4132-9DFD-FF96C6C0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38425"/>
            <a:ext cx="438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-52">
            <a:extLst xmlns:a="http://schemas.openxmlformats.org/drawingml/2006/main">
              <a:ext uri="{FF2B5EF4-FFF2-40B4-BE49-F238E27FC236}">
                <a16:creationId xmlns:a16="http://schemas.microsoft.com/office/drawing/2014/main" id="{577CBCDB-F4C2-4D76-A3D3-D4A5C580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289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9" name="text-53">
            <a:extLst xmlns:a="http://schemas.openxmlformats.org/drawingml/2006/main">
              <a:ext uri="{FF2B5EF4-FFF2-40B4-BE49-F238E27FC236}">
                <a16:creationId xmlns:a16="http://schemas.microsoft.com/office/drawing/2014/main" id="{EBEF7838-1D7C-4898-82E5-0BED2496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24275"/>
            <a:ext cx="1581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Save, export or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print results</a:t>
            </a:r>
          </a:p>
        </p:txBody>
      </p:sp>
      <p:sp>
        <p:nvSpPr>
          <p:cNvPr id="30" name="text-54">
            <a:extLst xmlns:a="http://schemas.openxmlformats.org/drawingml/2006/main">
              <a:ext uri="{FF2B5EF4-FFF2-40B4-BE49-F238E27FC236}">
                <a16:creationId xmlns:a16="http://schemas.microsoft.com/office/drawing/2014/main" id="{EC62A202-E6CE-4623-B000-A5502C0D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A completed report keeps the product details and expected quantities captured when the count started.</a:t>
            </a:r>
          </a:p>
        </p:txBody>
      </p:sp>
    </p:spTree>
    <p:extLst>
      <p:ext uri="{BB962C8B-B14F-4D97-AF65-F5344CB8AC3E}">
        <p14:creationId xmlns:p14="http://schemas.microsoft.com/office/powerpoint/2010/main" val="160336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0FA2461-B135-41AA-8DA9-C0BD208B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text-55">
            <a:extLst xmlns:a="http://schemas.openxmlformats.org/drawingml/2006/main">
              <a:ext uri="{FF2B5EF4-FFF2-40B4-BE49-F238E27FC236}">
                <a16:creationId xmlns:a16="http://schemas.microsoft.com/office/drawing/2014/main" id="{65B41720-71C1-4DA9-8A7E-F2F5FC8D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A browser interface calls a user-scoped Express API backed by a local SQLite database.</a:t>
            </a:r>
          </a:p>
        </p:txBody>
      </p:sp>
      <p:sp>
        <p:nvSpPr>
          <p:cNvPr id="3" name="rule-56">
            <a:extLst xmlns:a="http://schemas.openxmlformats.org/drawingml/2006/main">
              <a:ext uri="{FF2B5EF4-FFF2-40B4-BE49-F238E27FC236}">
                <a16:creationId xmlns:a16="http://schemas.microsoft.com/office/drawing/2014/main" id="{19CC6130-B54E-4E58-862F-B6139DD1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4" name="text-57">
            <a:extLst xmlns:a="http://schemas.openxmlformats.org/drawingml/2006/main">
              <a:ext uri="{FF2B5EF4-FFF2-40B4-BE49-F238E27FC236}">
                <a16:creationId xmlns:a16="http://schemas.microsoft.com/office/drawing/2014/main" id="{71981FA3-B7AE-4DF7-8E6E-ECE7111C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INVENTRA  ·  SECOND YEAR MINI PROJECT</a:t>
            </a:r>
          </a:p>
        </p:txBody>
      </p:sp>
      <p:sp>
        <p:nvSpPr>
          <p:cNvPr id="5" name="text-58">
            <a:extLst xmlns:a="http://schemas.openxmlformats.org/drawingml/2006/main">
              <a:ext uri="{FF2B5EF4-FFF2-40B4-BE49-F238E27FC236}">
                <a16:creationId xmlns:a16="http://schemas.microsoft.com/office/drawing/2014/main" id="{E9DCCED3-41C6-41EB-A346-71D64C39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shape-59">
            <a:extLst xmlns:a="http://schemas.openxmlformats.org/drawingml/2006/main">
              <a:ext uri="{FF2B5EF4-FFF2-40B4-BE49-F238E27FC236}">
                <a16:creationId xmlns:a16="http://schemas.microsoft.com/office/drawing/2014/main" id="{F669CC2C-223A-431D-A5AF-116C8290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667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7" name="text-60">
            <a:extLst xmlns:a="http://schemas.openxmlformats.org/drawingml/2006/main">
              <a:ext uri="{FF2B5EF4-FFF2-40B4-BE49-F238E27FC236}">
                <a16:creationId xmlns:a16="http://schemas.microsoft.com/office/drawing/2014/main" id="{2FEA6D04-FC56-4163-8EB6-25FBEC8F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717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rule-61">
            <a:extLst xmlns:a="http://schemas.openxmlformats.org/drawingml/2006/main">
              <a:ext uri="{FF2B5EF4-FFF2-40B4-BE49-F238E27FC236}">
                <a16:creationId xmlns:a16="http://schemas.microsoft.com/office/drawing/2014/main" id="{D247D669-539B-4933-8162-C81DDE0E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9" name="text-62">
            <a:extLst xmlns:a="http://schemas.openxmlformats.org/drawingml/2006/main">
              <a:ext uri="{FF2B5EF4-FFF2-40B4-BE49-F238E27FC236}">
                <a16:creationId xmlns:a16="http://schemas.microsoft.com/office/drawing/2014/main" id="{75D3D573-D193-4EF7-BE4D-37945734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HTML · CSS · JavaScript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Responsive screens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Same-origin JSON requests</a:t>
            </a:r>
          </a:p>
        </p:txBody>
      </p:sp>
      <p:sp>
        <p:nvSpPr>
          <p:cNvPr id="10" name="text-63">
            <a:extLst xmlns:a="http://schemas.openxmlformats.org/drawingml/2006/main">
              <a:ext uri="{FF2B5EF4-FFF2-40B4-BE49-F238E27FC236}">
                <a16:creationId xmlns:a16="http://schemas.microsoft.com/office/drawing/2014/main" id="{E71DBD10-C5BE-47AF-9C39-18A78391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432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9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DC87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C87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shape-64">
            <a:extLst xmlns:a="http://schemas.openxmlformats.org/drawingml/2006/main">
              <a:ext uri="{FF2B5EF4-FFF2-40B4-BE49-F238E27FC236}">
                <a16:creationId xmlns:a16="http://schemas.microsoft.com/office/drawing/2014/main" id="{7FBE658C-81C1-457B-821E-AB466FD2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2667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D6E3D8"/>
            </a:solidFill>
            <a:prstDash val="solid"/>
          </a:ln>
        </p:spPr>
      </p:sp>
      <p:sp>
        <p:nvSpPr>
          <p:cNvPr id="12" name="text-65">
            <a:extLst xmlns:a="http://schemas.openxmlformats.org/drawingml/2006/main">
              <a:ext uri="{FF2B5EF4-FFF2-40B4-BE49-F238E27FC236}">
                <a16:creationId xmlns:a16="http://schemas.microsoft.com/office/drawing/2014/main" id="{42616C6C-1945-4C65-809C-5A27FA8C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717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Node.js + Express</a:t>
            </a:r>
          </a:p>
        </p:txBody>
      </p:sp>
      <p:sp>
        <p:nvSpPr>
          <p:cNvPr id="13" name="rule-66">
            <a:extLst xmlns:a="http://schemas.openxmlformats.org/drawingml/2006/main">
              <a:ext uri="{FF2B5EF4-FFF2-40B4-BE49-F238E27FC236}">
                <a16:creationId xmlns:a16="http://schemas.microsoft.com/office/drawing/2014/main" id="{AD123521-003B-4FCF-BA53-75170334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8612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14" name="text-67">
            <a:extLst xmlns:a="http://schemas.openxmlformats.org/drawingml/2006/main">
              <a:ext uri="{FF2B5EF4-FFF2-40B4-BE49-F238E27FC236}">
                <a16:creationId xmlns:a16="http://schemas.microsoft.com/office/drawing/2014/main" id="{5C071B9D-E3F1-47E4-82B6-7AFA8EB0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61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Account sessions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Input validation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Inventory and count routes</a:t>
            </a:r>
          </a:p>
        </p:txBody>
      </p:sp>
      <p:sp>
        <p:nvSpPr>
          <p:cNvPr id="15" name="text-68">
            <a:extLst xmlns:a="http://schemas.openxmlformats.org/drawingml/2006/main">
              <a:ext uri="{FF2B5EF4-FFF2-40B4-BE49-F238E27FC236}">
                <a16:creationId xmlns:a16="http://schemas.microsoft.com/office/drawing/2014/main" id="{FFB871E1-0BA5-4C0C-89D5-118278DD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432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9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DC87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C87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shape-69">
            <a:extLst xmlns:a="http://schemas.openxmlformats.org/drawingml/2006/main">
              <a:ext uri="{FF2B5EF4-FFF2-40B4-BE49-F238E27FC236}">
                <a16:creationId xmlns:a16="http://schemas.microsoft.com/office/drawing/2014/main" id="{90E1114A-E03E-4CA5-9B36-C1AC3B6F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2667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0241F"/>
          </a:solidFill>
          <a:ln xmlns:a="http://schemas.openxmlformats.org/drawingml/2006/main" w="9525">
            <a:solidFill>
              <a:srgbClr val="10241F"/>
            </a:solidFill>
            <a:prstDash val="solid"/>
          </a:ln>
        </p:spPr>
      </p:sp>
      <p:sp>
        <p:nvSpPr>
          <p:cNvPr id="17" name="text-70">
            <a:extLst xmlns:a="http://schemas.openxmlformats.org/drawingml/2006/main">
              <a:ext uri="{FF2B5EF4-FFF2-40B4-BE49-F238E27FC236}">
                <a16:creationId xmlns:a16="http://schemas.microsoft.com/office/drawing/2014/main" id="{5A8B8C30-4C12-4439-86F0-5C3718E2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717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8" name="rule-71">
            <a:extLst xmlns:a="http://schemas.openxmlformats.org/drawingml/2006/main">
              <a:ext uri="{FF2B5EF4-FFF2-40B4-BE49-F238E27FC236}">
                <a16:creationId xmlns:a16="http://schemas.microsoft.com/office/drawing/2014/main" id="{72B3784C-AD44-4714-887D-9A175FA2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8612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7594C"/>
            </a:solidFill>
            <a:prstDash val="solid"/>
          </a:ln>
        </p:spPr>
      </p:sp>
      <p:sp>
        <p:nvSpPr>
          <p:cNvPr id="19" name="text-72">
            <a:extLst xmlns:a="http://schemas.openxmlformats.org/drawingml/2006/main">
              <a:ext uri="{FF2B5EF4-FFF2-40B4-BE49-F238E27FC236}">
                <a16:creationId xmlns:a16="http://schemas.microsoft.com/office/drawing/2014/main" id="{68862241-F146-40F0-8F94-BA27E54B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861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DD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D0C5"/>
                </a:solidFill>
                <a:latin typeface="Arial"/>
                <a:ea typeface="Arial"/>
                <a:cs typeface="Arial"/>
              </a:rPr>
              <a:t>Users and sessions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DD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D0C5"/>
                </a:solidFill>
                <a:latin typeface="Arial"/>
                <a:ea typeface="Arial"/>
                <a:cs typeface="Arial"/>
              </a:rPr>
              <a:t>Products and snapshots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DD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D0C5"/>
                </a:solidFill>
                <a:latin typeface="Arial"/>
                <a:ea typeface="Arial"/>
                <a:cs typeface="Arial"/>
              </a:rPr>
              <a:t>Count history and remarks</a:t>
            </a:r>
          </a:p>
        </p:txBody>
      </p:sp>
      <p:sp>
        <p:nvSpPr>
          <p:cNvPr id="20" name="text-73">
            <a:extLst xmlns:a="http://schemas.openxmlformats.org/drawingml/2006/main">
              <a:ext uri="{FF2B5EF4-FFF2-40B4-BE49-F238E27FC236}">
                <a16:creationId xmlns:a16="http://schemas.microsoft.com/office/drawing/2014/main" id="{12C7F06C-E0CE-4087-AC3A-C4FE67C9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24425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Password hashing uses Node’s scrypt. Session tokens are random and only their hashes are stored.</a:t>
            </a:r>
          </a:p>
        </p:txBody>
      </p:sp>
      <p:sp>
        <p:nvSpPr>
          <p:cNvPr id="21" name="text-74">
            <a:extLst xmlns:a="http://schemas.openxmlformats.org/drawingml/2006/main">
              <a:ext uri="{FF2B5EF4-FFF2-40B4-BE49-F238E27FC236}">
                <a16:creationId xmlns:a16="http://schemas.microsoft.com/office/drawing/2014/main" id="{94F4E178-F3E1-48A5-8770-16EA9DF6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Local database file: data/inventra.sqlite</a:t>
            </a:r>
          </a:p>
        </p:txBody>
      </p:sp>
    </p:spTree>
    <p:extLst>
      <p:ext uri="{BB962C8B-B14F-4D97-AF65-F5344CB8AC3E}">
        <p14:creationId xmlns:p14="http://schemas.microsoft.com/office/powerpoint/2010/main" val="10299727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459EE1E-91DC-461A-92A6-CC96A39F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Variance calculation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89DF5617-A778-4ABB-B7B4-909DA69A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A difference is a signal for review; the software does not decide why it happened.</a:t>
            </a:r>
          </a:p>
        </p:txBody>
      </p:sp>
      <p:sp>
        <p:nvSpPr>
          <p:cNvPr id="3" name="rule-76">
            <a:extLst xmlns:a="http://schemas.openxmlformats.org/drawingml/2006/main">
              <a:ext uri="{FF2B5EF4-FFF2-40B4-BE49-F238E27FC236}">
                <a16:creationId xmlns:a16="http://schemas.microsoft.com/office/drawing/2014/main" id="{E128B246-E246-415E-A04A-2CCBA6CF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4" name="text-77">
            <a:extLst xmlns:a="http://schemas.openxmlformats.org/drawingml/2006/main">
              <a:ext uri="{FF2B5EF4-FFF2-40B4-BE49-F238E27FC236}">
                <a16:creationId xmlns:a16="http://schemas.microsoft.com/office/drawing/2014/main" id="{7ECB020C-6BA0-42B8-8387-798E2B87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INVENTRA  ·  SECOND YEAR MINI PROJECT</a:t>
            </a:r>
          </a:p>
        </p:txBody>
      </p:sp>
      <p:sp>
        <p:nvSpPr>
          <p:cNvPr id="5" name="text-78">
            <a:extLst xmlns:a="http://schemas.openxmlformats.org/drawingml/2006/main">
              <a:ext uri="{FF2B5EF4-FFF2-40B4-BE49-F238E27FC236}">
                <a16:creationId xmlns:a16="http://schemas.microsoft.com/office/drawing/2014/main" id="{AEE85764-E6E0-40D7-9B68-F47DB1BA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shape-79">
            <a:extLst xmlns:a="http://schemas.openxmlformats.org/drawingml/2006/main">
              <a:ext uri="{FF2B5EF4-FFF2-40B4-BE49-F238E27FC236}">
                <a16:creationId xmlns:a16="http://schemas.microsoft.com/office/drawing/2014/main" id="{173F8B6B-B7AD-4797-9908-00371860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706100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41F"/>
          </a:solidFill>
          <a:ln xmlns:a="http://schemas.openxmlformats.org/drawingml/2006/main" w="9525">
            <a:solidFill>
              <a:srgbClr val="10241F"/>
            </a:solidFill>
            <a:prstDash val="solid"/>
          </a:ln>
        </p:spPr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0E067EE4-75C5-4539-B0BF-944CC55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050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B5D9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D9C4"/>
                </a:solidFill>
                <a:latin typeface="Arial"/>
                <a:ea typeface="Arial"/>
                <a:cs typeface="Arial"/>
              </a:rPr>
              <a:t>VARIANCE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21D3C368-5A37-4A76-9A5E-A8EFF218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09825"/>
            <a:ext cx="962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1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Physical quantity  −  Expected quantity</a:t>
            </a:r>
          </a:p>
        </p:txBody>
      </p:sp>
      <p:sp>
        <p:nvSpPr>
          <p:cNvPr id="9" name="text-82">
            <a:extLst xmlns:a="http://schemas.openxmlformats.org/drawingml/2006/main">
              <a:ext uri="{FF2B5EF4-FFF2-40B4-BE49-F238E27FC236}">
                <a16:creationId xmlns:a16="http://schemas.microsoft.com/office/drawing/2014/main" id="{4C0BAD62-14B5-4CEB-AAD5-2C446188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8766E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text-83">
            <a:extLst xmlns:a="http://schemas.openxmlformats.org/drawingml/2006/main">
              <a:ext uri="{FF2B5EF4-FFF2-40B4-BE49-F238E27FC236}">
                <a16:creationId xmlns:a16="http://schemas.microsoft.com/office/drawing/2014/main" id="{9CCB7EB0-3C5E-4356-BA60-BFF0ABF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67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8766E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1" name="text-84">
            <a:extLst xmlns:a="http://schemas.openxmlformats.org/drawingml/2006/main">
              <a:ext uri="{FF2B5EF4-FFF2-40B4-BE49-F238E27FC236}">
                <a16:creationId xmlns:a16="http://schemas.microsoft.com/office/drawing/2014/main" id="{CEBEEBA8-2466-4304-89C2-92C42493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67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8766E"/>
                </a:solidFill>
                <a:latin typeface="Arial"/>
                <a:ea typeface="Arial"/>
                <a:cs typeface="Arial"/>
              </a:rPr>
              <a:t>PHYSICAL</a:t>
            </a:r>
          </a:p>
        </p:txBody>
      </p:sp>
      <p:sp>
        <p:nvSpPr>
          <p:cNvPr id="12" name="text-85">
            <a:extLst xmlns:a="http://schemas.openxmlformats.org/drawingml/2006/main">
              <a:ext uri="{FF2B5EF4-FFF2-40B4-BE49-F238E27FC236}">
                <a16:creationId xmlns:a16="http://schemas.microsoft.com/office/drawing/2014/main" id="{1CD7CC9F-E161-483C-8A46-32D3F517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8766E"/>
                </a:solidFill>
                <a:latin typeface="Arial"/>
                <a:ea typeface="Arial"/>
                <a:cs typeface="Arial"/>
              </a:rPr>
              <a:t>VARIANCE</a:t>
            </a:r>
          </a:p>
        </p:txBody>
      </p:sp>
      <p:sp>
        <p:nvSpPr>
          <p:cNvPr id="13" name="text-86">
            <a:extLst xmlns:a="http://schemas.openxmlformats.org/drawingml/2006/main">
              <a:ext uri="{FF2B5EF4-FFF2-40B4-BE49-F238E27FC236}">
                <a16:creationId xmlns:a16="http://schemas.microsoft.com/office/drawing/2014/main" id="{F1D4CA30-D59A-4BCF-A132-28A962E4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67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8766E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4" name="rule-87">
            <a:extLst xmlns:a="http://schemas.openxmlformats.org/drawingml/2006/main">
              <a:ext uri="{FF2B5EF4-FFF2-40B4-BE49-F238E27FC236}">
                <a16:creationId xmlns:a16="http://schemas.microsoft.com/office/drawing/2014/main" id="{154DB6DF-A7DA-4B56-9861-4AEC7C5B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15" name="text-88">
            <a:extLst xmlns:a="http://schemas.openxmlformats.org/drawingml/2006/main">
              <a:ext uri="{FF2B5EF4-FFF2-40B4-BE49-F238E27FC236}">
                <a16:creationId xmlns:a16="http://schemas.microsoft.com/office/drawing/2014/main" id="{B39C41A5-7EC3-48B1-95F8-90C06F64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PVC Connector · 20mm</a:t>
            </a:r>
          </a:p>
        </p:txBody>
      </p:sp>
      <p:sp>
        <p:nvSpPr>
          <p:cNvPr id="16" name="text-89">
            <a:extLst xmlns:a="http://schemas.openxmlformats.org/drawingml/2006/main">
              <a:ext uri="{FF2B5EF4-FFF2-40B4-BE49-F238E27FC236}">
                <a16:creationId xmlns:a16="http://schemas.microsoft.com/office/drawing/2014/main" id="{08A26F4E-1222-4AD3-B8B9-75D9C10B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290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" name="text-90">
            <a:extLst xmlns:a="http://schemas.openxmlformats.org/drawingml/2006/main">
              <a:ext uri="{FF2B5EF4-FFF2-40B4-BE49-F238E27FC236}">
                <a16:creationId xmlns:a16="http://schemas.microsoft.com/office/drawing/2014/main" id="{F9C4B723-A880-483D-BBDA-5E2CBF70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290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113</a:t>
            </a:r>
          </a:p>
        </p:txBody>
      </p:sp>
      <p:sp>
        <p:nvSpPr>
          <p:cNvPr id="18" name="text-91">
            <a:extLst xmlns:a="http://schemas.openxmlformats.org/drawingml/2006/main">
              <a:ext uri="{FF2B5EF4-FFF2-40B4-BE49-F238E27FC236}">
                <a16:creationId xmlns:a16="http://schemas.microsoft.com/office/drawing/2014/main" id="{0E6B0423-C014-45F8-93E5-C9406927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290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DC87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C8751"/>
                </a:solidFill>
                <a:latin typeface="Arial"/>
                <a:ea typeface="Arial"/>
                <a:cs typeface="Arial"/>
              </a:rPr>
              <a:t>−7</a:t>
            </a:r>
          </a:p>
        </p:txBody>
      </p:sp>
      <p:sp>
        <p:nvSpPr>
          <p:cNvPr id="19" name="text-92">
            <a:extLst xmlns:a="http://schemas.openxmlformats.org/drawingml/2006/main">
              <a:ext uri="{FF2B5EF4-FFF2-40B4-BE49-F238E27FC236}">
                <a16:creationId xmlns:a16="http://schemas.microsoft.com/office/drawing/2014/main" id="{8B5E2C5A-7B14-42B4-A5C0-C4C0B7AA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290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864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86437"/>
                </a:solidFill>
                <a:latin typeface="Arial"/>
                <a:ea typeface="Arial"/>
                <a:cs typeface="Arial"/>
              </a:rPr>
              <a:t>Requires review</a:t>
            </a:r>
          </a:p>
        </p:txBody>
      </p:sp>
      <p:sp>
        <p:nvSpPr>
          <p:cNvPr id="20" name="rule-93">
            <a:extLst xmlns:a="http://schemas.openxmlformats.org/drawingml/2006/main">
              <a:ext uri="{FF2B5EF4-FFF2-40B4-BE49-F238E27FC236}">
                <a16:creationId xmlns:a16="http://schemas.microsoft.com/office/drawing/2014/main" id="{5AC6811E-F89D-43AD-BEA0-5758425C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ED"/>
            </a:solidFill>
            <a:prstDash val="solid"/>
          </a:ln>
        </p:spPr>
      </p:sp>
      <p:sp>
        <p:nvSpPr>
          <p:cNvPr id="21" name="text-94">
            <a:extLst xmlns:a="http://schemas.openxmlformats.org/drawingml/2006/main">
              <a:ext uri="{FF2B5EF4-FFF2-40B4-BE49-F238E27FC236}">
                <a16:creationId xmlns:a16="http://schemas.microsoft.com/office/drawing/2014/main" id="{9573FD93-B280-4144-9CC0-978BE6F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Switch · 16A</a:t>
            </a:r>
          </a:p>
        </p:txBody>
      </p:sp>
      <p:sp>
        <p:nvSpPr>
          <p:cNvPr id="22" name="text-95">
            <a:extLst xmlns:a="http://schemas.openxmlformats.org/drawingml/2006/main">
              <a:ext uri="{FF2B5EF4-FFF2-40B4-BE49-F238E27FC236}">
                <a16:creationId xmlns:a16="http://schemas.microsoft.com/office/drawing/2014/main" id="{F28C625C-4FF4-4FCF-9904-9DA241CD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3" name="text-96">
            <a:extLst xmlns:a="http://schemas.openxmlformats.org/drawingml/2006/main">
              <a:ext uri="{FF2B5EF4-FFF2-40B4-BE49-F238E27FC236}">
                <a16:creationId xmlns:a16="http://schemas.microsoft.com/office/drawing/2014/main" id="{ED906247-6402-4294-9DEA-68DD781E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29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4" name="text-97">
            <a:extLst xmlns:a="http://schemas.openxmlformats.org/drawingml/2006/main">
              <a:ext uri="{FF2B5EF4-FFF2-40B4-BE49-F238E27FC236}">
                <a16:creationId xmlns:a16="http://schemas.microsoft.com/office/drawing/2014/main" id="{FB88DAAB-133E-4AC4-B05A-C04C842C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text-98">
            <a:extLst xmlns:a="http://schemas.openxmlformats.org/drawingml/2006/main">
              <a:ext uri="{FF2B5EF4-FFF2-40B4-BE49-F238E27FC236}">
                <a16:creationId xmlns:a16="http://schemas.microsoft.com/office/drawing/2014/main" id="{ADB5D04E-4703-4046-8D09-FF55642C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29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Matched</a:t>
            </a:r>
          </a:p>
        </p:txBody>
      </p:sp>
      <p:sp>
        <p:nvSpPr>
          <p:cNvPr id="26" name="rule-99">
            <a:extLst xmlns:a="http://schemas.openxmlformats.org/drawingml/2006/main">
              <a:ext uri="{FF2B5EF4-FFF2-40B4-BE49-F238E27FC236}">
                <a16:creationId xmlns:a16="http://schemas.microsoft.com/office/drawing/2014/main" id="{1CC67C24-15DA-4E8D-B8C3-031AB91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ED"/>
            </a:solidFill>
            <a:prstDash val="solid"/>
          </a:ln>
        </p:spPr>
      </p:sp>
      <p:sp>
        <p:nvSpPr>
          <p:cNvPr id="27" name="text-100">
            <a:extLst xmlns:a="http://schemas.openxmlformats.org/drawingml/2006/main">
              <a:ext uri="{FF2B5EF4-FFF2-40B4-BE49-F238E27FC236}">
                <a16:creationId xmlns:a16="http://schemas.microsoft.com/office/drawing/2014/main" id="{7704ECA5-2065-486F-854B-F8773FC0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Bearing · 6204</a:t>
            </a:r>
          </a:p>
        </p:txBody>
      </p:sp>
      <p:sp>
        <p:nvSpPr>
          <p:cNvPr id="28" name="text-101">
            <a:extLst xmlns:a="http://schemas.openxmlformats.org/drawingml/2006/main">
              <a:ext uri="{FF2B5EF4-FFF2-40B4-BE49-F238E27FC236}">
                <a16:creationId xmlns:a16="http://schemas.microsoft.com/office/drawing/2014/main" id="{20C01BDC-7E12-4DCF-A1EE-1577E9B6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292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9" name="text-102">
            <a:extLst xmlns:a="http://schemas.openxmlformats.org/drawingml/2006/main">
              <a:ext uri="{FF2B5EF4-FFF2-40B4-BE49-F238E27FC236}">
                <a16:creationId xmlns:a16="http://schemas.microsoft.com/office/drawing/2014/main" id="{40B6DCED-D2A5-499D-AA98-B4219F4E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292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30" name="text-103">
            <a:extLst xmlns:a="http://schemas.openxmlformats.org/drawingml/2006/main">
              <a:ext uri="{FF2B5EF4-FFF2-40B4-BE49-F238E27FC236}">
                <a16:creationId xmlns:a16="http://schemas.microsoft.com/office/drawing/2014/main" id="{162F3B8C-7223-4A08-ADE8-E12D5148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292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DC87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C8751"/>
                </a:solidFill>
                <a:latin typeface="Arial"/>
                <a:ea typeface="Arial"/>
                <a:cs typeface="Arial"/>
              </a:rPr>
              <a:t>−3</a:t>
            </a:r>
          </a:p>
        </p:txBody>
      </p:sp>
      <p:sp>
        <p:nvSpPr>
          <p:cNvPr id="31" name="text-104">
            <a:extLst xmlns:a="http://schemas.openxmlformats.org/drawingml/2006/main">
              <a:ext uri="{FF2B5EF4-FFF2-40B4-BE49-F238E27FC236}">
                <a16:creationId xmlns:a16="http://schemas.microsoft.com/office/drawing/2014/main" id="{AA32DB0C-66E1-4557-80E2-D3776E8D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292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864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86437"/>
                </a:solidFill>
                <a:latin typeface="Arial"/>
                <a:ea typeface="Arial"/>
                <a:cs typeface="Arial"/>
              </a:rPr>
              <a:t>Requires review</a:t>
            </a:r>
          </a:p>
        </p:txBody>
      </p:sp>
      <p:sp>
        <p:nvSpPr>
          <p:cNvPr id="32" name="text-105">
            <a:extLst xmlns:a="http://schemas.openxmlformats.org/drawingml/2006/main">
              <a:ext uri="{FF2B5EF4-FFF2-40B4-BE49-F238E27FC236}">
                <a16:creationId xmlns:a16="http://schemas.microsoft.com/office/drawing/2014/main" id="{EA7640FF-0CD7-401D-9D4F-CEC93C48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A zero variance is Matched. Any non-zero variance is Requires review.</a:t>
            </a:r>
          </a:p>
        </p:txBody>
      </p:sp>
    </p:spTree>
    <p:extLst>
      <p:ext uri="{BB962C8B-B14F-4D97-AF65-F5344CB8AC3E}">
        <p14:creationId xmlns:p14="http://schemas.microsoft.com/office/powerpoint/2010/main" val="1457867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B221EAA-63FA-4C05-B10D-220709D3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Demonstration flow</a:t>
            </a:r>
          </a:p>
        </p:txBody>
      </p:sp>
      <p:sp>
        <p:nvSpPr>
          <p:cNvPr id="2" name="text-106">
            <a:extLst xmlns:a="http://schemas.openxmlformats.org/drawingml/2006/main">
              <a:ext uri="{FF2B5EF4-FFF2-40B4-BE49-F238E27FC236}">
                <a16:creationId xmlns:a16="http://schemas.microsoft.com/office/drawing/2014/main" id="{35E9E889-45BA-45EC-BF04-D7507DC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Use the included sample workspace to present the complete path from login to report.</a:t>
            </a:r>
          </a:p>
        </p:txBody>
      </p:sp>
      <p:sp>
        <p:nvSpPr>
          <p:cNvPr id="3" name="rule-107">
            <a:extLst xmlns:a="http://schemas.openxmlformats.org/drawingml/2006/main">
              <a:ext uri="{FF2B5EF4-FFF2-40B4-BE49-F238E27FC236}">
                <a16:creationId xmlns:a16="http://schemas.microsoft.com/office/drawing/2014/main" id="{36B47519-AF43-463F-B2AF-354EB6EE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4" name="text-108">
            <a:extLst xmlns:a="http://schemas.openxmlformats.org/drawingml/2006/main">
              <a:ext uri="{FF2B5EF4-FFF2-40B4-BE49-F238E27FC236}">
                <a16:creationId xmlns:a16="http://schemas.microsoft.com/office/drawing/2014/main" id="{C85BA5C3-EE9D-44F9-929E-DB300B66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INVENTRA  ·  SECOND YEAR MINI PROJECT</a:t>
            </a:r>
          </a:p>
        </p:txBody>
      </p:sp>
      <p:sp>
        <p:nvSpPr>
          <p:cNvPr id="5" name="text-109">
            <a:extLst xmlns:a="http://schemas.openxmlformats.org/drawingml/2006/main">
              <a:ext uri="{FF2B5EF4-FFF2-40B4-BE49-F238E27FC236}">
                <a16:creationId xmlns:a16="http://schemas.microsoft.com/office/drawing/2014/main" id="{1523A50F-98BD-4CC9-8824-7CD4A641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text-110">
            <a:extLst xmlns:a="http://schemas.openxmlformats.org/drawingml/2006/main">
              <a:ext uri="{FF2B5EF4-FFF2-40B4-BE49-F238E27FC236}">
                <a16:creationId xmlns:a16="http://schemas.microsoft.com/office/drawing/2014/main" id="{54C10675-FD58-48D6-A3A2-2EA933E0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111">
            <a:extLst xmlns:a="http://schemas.openxmlformats.org/drawingml/2006/main">
              <a:ext uri="{FF2B5EF4-FFF2-40B4-BE49-F238E27FC236}">
                <a16:creationId xmlns:a16="http://schemas.microsoft.com/office/drawing/2014/main" id="{AEB38CB4-4932-4448-B97F-0D2B3845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907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8" name="text-112">
            <a:extLst xmlns:a="http://schemas.openxmlformats.org/drawingml/2006/main">
              <a:ext uri="{FF2B5EF4-FFF2-40B4-BE49-F238E27FC236}">
                <a16:creationId xmlns:a16="http://schemas.microsoft.com/office/drawing/2014/main" id="{75D5F653-B147-42A3-8826-2A010715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52675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demo@inventra.local</a:t>
            </a:r>
          </a:p>
        </p:txBody>
      </p:sp>
      <p:sp>
        <p:nvSpPr>
          <p:cNvPr id="9" name="text-113">
            <a:extLst xmlns:a="http://schemas.openxmlformats.org/drawingml/2006/main">
              <a:ext uri="{FF2B5EF4-FFF2-40B4-BE49-F238E27FC236}">
                <a16:creationId xmlns:a16="http://schemas.microsoft.com/office/drawing/2014/main" id="{49AEE87C-E8E3-4BD8-9D26-1E6F433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114">
            <a:extLst xmlns:a="http://schemas.openxmlformats.org/drawingml/2006/main">
              <a:ext uri="{FF2B5EF4-FFF2-40B4-BE49-F238E27FC236}">
                <a16:creationId xmlns:a16="http://schemas.microsoft.com/office/drawing/2014/main" id="{8BBD49CD-A85D-4EB9-9B58-E075EB59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956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Open Inventory</a:t>
            </a:r>
          </a:p>
        </p:txBody>
      </p:sp>
      <p:sp>
        <p:nvSpPr>
          <p:cNvPr id="11" name="text-115">
            <a:extLst xmlns:a="http://schemas.openxmlformats.org/drawingml/2006/main">
              <a:ext uri="{FF2B5EF4-FFF2-40B4-BE49-F238E27FC236}">
                <a16:creationId xmlns:a16="http://schemas.microsoft.com/office/drawing/2014/main" id="{6B6FB475-5A07-4727-AF2E-54A3C0B7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7575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Show the sample records or import the CSV.</a:t>
            </a:r>
          </a:p>
        </p:txBody>
      </p:sp>
      <p:sp>
        <p:nvSpPr>
          <p:cNvPr id="12" name="text-116">
            <a:extLst xmlns:a="http://schemas.openxmlformats.org/drawingml/2006/main">
              <a:ext uri="{FF2B5EF4-FFF2-40B4-BE49-F238E27FC236}">
                <a16:creationId xmlns:a16="http://schemas.microsoft.com/office/drawing/2014/main" id="{79D6EDCD-A8C1-4756-82C3-9630103D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117">
            <a:extLst xmlns:a="http://schemas.openxmlformats.org/drawingml/2006/main">
              <a:ext uri="{FF2B5EF4-FFF2-40B4-BE49-F238E27FC236}">
                <a16:creationId xmlns:a16="http://schemas.microsoft.com/office/drawing/2014/main" id="{19CFDED9-96B1-4B44-B72E-55EC7395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005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Create a count</a:t>
            </a:r>
          </a:p>
        </p:txBody>
      </p:sp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330564BA-C391-4287-A3DD-F43E6202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62475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Name the reconciliation and choose its date.</a:t>
            </a:r>
          </a:p>
        </p:txBody>
      </p:sp>
      <p:sp>
        <p:nvSpPr>
          <p:cNvPr id="15" name="text-119">
            <a:extLst xmlns:a="http://schemas.openxmlformats.org/drawingml/2006/main">
              <a:ext uri="{FF2B5EF4-FFF2-40B4-BE49-F238E27FC236}">
                <a16:creationId xmlns:a16="http://schemas.microsoft.com/office/drawing/2014/main" id="{73D64E6F-D8FD-43EE-AED3-A34EB96E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-120">
            <a:extLst xmlns:a="http://schemas.openxmlformats.org/drawingml/2006/main">
              <a:ext uri="{FF2B5EF4-FFF2-40B4-BE49-F238E27FC236}">
                <a16:creationId xmlns:a16="http://schemas.microsoft.com/office/drawing/2014/main" id="{EA83DC71-8C26-48F7-8E52-1DC78C58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907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Enter quantities</a:t>
            </a:r>
          </a:p>
        </p:txBody>
      </p:sp>
      <p:sp>
        <p:nvSpPr>
          <p:cNvPr id="17" name="text-121">
            <a:extLst xmlns:a="http://schemas.openxmlformats.org/drawingml/2006/main">
              <a:ext uri="{FF2B5EF4-FFF2-40B4-BE49-F238E27FC236}">
                <a16:creationId xmlns:a16="http://schemas.microsoft.com/office/drawing/2014/main" id="{FD7937FD-B0B8-4827-824E-D9D3FF62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52675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Save counts and show the progress indicator.</a:t>
            </a:r>
          </a:p>
        </p:txBody>
      </p:sp>
      <p:sp>
        <p:nvSpPr>
          <p:cNvPr id="18" name="text-122">
            <a:extLst xmlns:a="http://schemas.openxmlformats.org/drawingml/2006/main">
              <a:ext uri="{FF2B5EF4-FFF2-40B4-BE49-F238E27FC236}">
                <a16:creationId xmlns:a16="http://schemas.microsoft.com/office/drawing/2014/main" id="{9C61BF30-2A7F-4D71-8AE2-2DC45F6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text-123">
            <a:extLst xmlns:a="http://schemas.openxmlformats.org/drawingml/2006/main">
              <a:ext uri="{FF2B5EF4-FFF2-40B4-BE49-F238E27FC236}">
                <a16:creationId xmlns:a16="http://schemas.microsoft.com/office/drawing/2014/main" id="{7C7FD654-AA56-4B9B-A7FD-918E72E7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956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Review differences</a:t>
            </a:r>
          </a:p>
        </p:txBody>
      </p:sp>
      <p:sp>
        <p:nvSpPr>
          <p:cNvPr id="20" name="text-124">
            <a:extLst xmlns:a="http://schemas.openxmlformats.org/drawingml/2006/main">
              <a:ext uri="{FF2B5EF4-FFF2-40B4-BE49-F238E27FC236}">
                <a16:creationId xmlns:a16="http://schemas.microsoft.com/office/drawing/2014/main" id="{F967DCEA-B306-4794-A4DB-936A4D2D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57575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Explain matched and requires-review rows.</a:t>
            </a:r>
          </a:p>
        </p:txBody>
      </p:sp>
      <p:sp>
        <p:nvSpPr>
          <p:cNvPr id="21" name="text-125">
            <a:extLst xmlns:a="http://schemas.openxmlformats.org/drawingml/2006/main">
              <a:ext uri="{FF2B5EF4-FFF2-40B4-BE49-F238E27FC236}">
                <a16:creationId xmlns:a16="http://schemas.microsoft.com/office/drawing/2014/main" id="{DA30E77E-DC5D-4906-A973-2E5CB82A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text-126">
            <a:extLst xmlns:a="http://schemas.openxmlformats.org/drawingml/2006/main">
              <a:ext uri="{FF2B5EF4-FFF2-40B4-BE49-F238E27FC236}">
                <a16:creationId xmlns:a16="http://schemas.microsoft.com/office/drawing/2014/main" id="{897820E5-50EF-4991-970E-F1F26F11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005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Export and reopen</a:t>
            </a:r>
          </a:p>
        </p:txBody>
      </p:sp>
      <p:sp>
        <p:nvSpPr>
          <p:cNvPr id="23" name="text-127">
            <a:extLst xmlns:a="http://schemas.openxmlformats.org/drawingml/2006/main">
              <a:ext uri="{FF2B5EF4-FFF2-40B4-BE49-F238E27FC236}">
                <a16:creationId xmlns:a16="http://schemas.microsoft.com/office/drawing/2014/main" id="{89EB9856-8E7F-4A69-9597-3EF708C6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62475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Download CSV or print; show saved history.</a:t>
            </a:r>
          </a:p>
        </p:txBody>
      </p:sp>
      <p:sp>
        <p:nvSpPr>
          <p:cNvPr id="24" name="rule-128">
            <a:extLst xmlns:a="http://schemas.openxmlformats.org/drawingml/2006/main">
              <a:ext uri="{FF2B5EF4-FFF2-40B4-BE49-F238E27FC236}">
                <a16:creationId xmlns:a16="http://schemas.microsoft.com/office/drawing/2014/main" id="{05827D7C-DD6E-495C-9BF1-788EFD41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25" name="text-129">
            <a:extLst xmlns:a="http://schemas.openxmlformats.org/drawingml/2006/main">
              <a:ext uri="{FF2B5EF4-FFF2-40B4-BE49-F238E27FC236}">
                <a16:creationId xmlns:a16="http://schemas.microsoft.com/office/drawing/2014/main" id="{877FA697-4ADE-4319-8803-4AC28F96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Demo password: InventraDemo2026!</a:t>
            </a:r>
          </a:p>
        </p:txBody>
      </p:sp>
      <p:sp>
        <p:nvSpPr>
          <p:cNvPr id="26" name="text-130">
            <a:extLst xmlns:a="http://schemas.openxmlformats.org/drawingml/2006/main">
              <a:ext uri="{FF2B5EF4-FFF2-40B4-BE49-F238E27FC236}">
                <a16:creationId xmlns:a16="http://schemas.microsoft.com/office/drawing/2014/main" id="{6826156A-06D8-418C-B9AE-E50413E2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Sample business and stock data are fictional.</a:t>
            </a:r>
          </a:p>
        </p:txBody>
      </p:sp>
    </p:spTree>
    <p:extLst>
      <p:ext uri="{BB962C8B-B14F-4D97-AF65-F5344CB8AC3E}">
        <p14:creationId xmlns:p14="http://schemas.microsoft.com/office/powerpoint/2010/main" val="750306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AAA5ADC-1882-4086-81EF-2ACD2A86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Project boundaries</a:t>
            </a:r>
          </a:p>
        </p:txBody>
      </p:sp>
      <p:sp>
        <p:nvSpPr>
          <p:cNvPr id="2" name="text-131">
            <a:extLst xmlns:a="http://schemas.openxmlformats.org/drawingml/2006/main">
              <a:ext uri="{FF2B5EF4-FFF2-40B4-BE49-F238E27FC236}">
                <a16:creationId xmlns:a16="http://schemas.microsoft.com/office/drawing/2014/main" id="{C6602575-7111-4909-971F-FC19F342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76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66E"/>
                </a:solidFill>
                <a:latin typeface="Arial"/>
                <a:ea typeface="Arial"/>
                <a:cs typeface="Arial"/>
              </a:rPr>
              <a:t>A focused academic MVP that can be extended after a real user reviews the workflow.</a:t>
            </a:r>
          </a:p>
        </p:txBody>
      </p:sp>
      <p:sp>
        <p:nvSpPr>
          <p:cNvPr id="3" name="rule-132">
            <a:extLst xmlns:a="http://schemas.openxmlformats.org/drawingml/2006/main">
              <a:ext uri="{FF2B5EF4-FFF2-40B4-BE49-F238E27FC236}">
                <a16:creationId xmlns:a16="http://schemas.microsoft.com/office/drawing/2014/main" id="{B5FCD009-1F14-4C5C-97BD-3C040C8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4" name="text-133">
            <a:extLst xmlns:a="http://schemas.openxmlformats.org/drawingml/2006/main">
              <a:ext uri="{FF2B5EF4-FFF2-40B4-BE49-F238E27FC236}">
                <a16:creationId xmlns:a16="http://schemas.microsoft.com/office/drawing/2014/main" id="{59B7CE8F-B76E-44CC-BEB8-DE0AB443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INVENTRA  ·  SECOND YEAR MINI PROJECT</a:t>
            </a:r>
          </a:p>
        </p:txBody>
      </p:sp>
      <p:sp>
        <p:nvSpPr>
          <p:cNvPr id="5" name="text-134">
            <a:extLst xmlns:a="http://schemas.openxmlformats.org/drawingml/2006/main">
              <a:ext uri="{FF2B5EF4-FFF2-40B4-BE49-F238E27FC236}">
                <a16:creationId xmlns:a16="http://schemas.microsoft.com/office/drawing/2014/main" id="{36BEEE6D-5615-49C1-B433-1EEB6DFE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8995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9958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text-135">
            <a:extLst xmlns:a="http://schemas.openxmlformats.org/drawingml/2006/main">
              <a:ext uri="{FF2B5EF4-FFF2-40B4-BE49-F238E27FC236}">
                <a16:creationId xmlns:a16="http://schemas.microsoft.com/office/drawing/2014/main" id="{63A29D2D-B845-4031-AAF4-4FFA8B0C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INCLUDED IN THIS MVP</a:t>
            </a:r>
          </a:p>
        </p:txBody>
      </p:sp>
      <p:sp>
        <p:nvSpPr>
          <p:cNvPr id="7" name="text-136">
            <a:extLst xmlns:a="http://schemas.openxmlformats.org/drawingml/2006/main">
              <a:ext uri="{FF2B5EF4-FFF2-40B4-BE49-F238E27FC236}">
                <a16:creationId xmlns:a16="http://schemas.microsoft.com/office/drawing/2014/main" id="{54CE4545-9D0D-4E07-8104-6D7EDA43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Account sign-up and login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Product management and CSV import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Manual count with saved progress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Variance report, remarks and history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Responsive browser interface</a:t>
            </a:r>
          </a:p>
        </p:txBody>
      </p:sp>
      <p:sp>
        <p:nvSpPr>
          <p:cNvPr id="8" name="shape-137">
            <a:extLst xmlns:a="http://schemas.openxmlformats.org/drawingml/2006/main">
              <a:ext uri="{FF2B5EF4-FFF2-40B4-BE49-F238E27FC236}">
                <a16:creationId xmlns:a16="http://schemas.microsoft.com/office/drawing/2014/main" id="{0AE4B8FC-E417-4DAF-8F17-3D3B0B8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95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D"/>
          </a:solidFill>
          <a:ln xmlns:a="http://schemas.openxmlformats.org/drawingml/2006/main" w="9525">
            <a:solidFill>
              <a:srgbClr val="DCE4DD"/>
            </a:solidFill>
            <a:prstDash val="solid"/>
          </a:ln>
        </p:spPr>
      </p:sp>
      <p:sp>
        <p:nvSpPr>
          <p:cNvPr id="9" name="text-138">
            <a:extLst xmlns:a="http://schemas.openxmlformats.org/drawingml/2006/main">
              <a:ext uri="{FF2B5EF4-FFF2-40B4-BE49-F238E27FC236}">
                <a16:creationId xmlns:a16="http://schemas.microsoft.com/office/drawing/2014/main" id="{C705B61F-EA68-4ADD-BE79-D9EDCEFF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979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95E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10" name="text-139">
            <a:extLst xmlns:a="http://schemas.openxmlformats.org/drawingml/2006/main">
              <a:ext uri="{FF2B5EF4-FFF2-40B4-BE49-F238E27FC236}">
                <a16:creationId xmlns:a16="http://schemas.microsoft.com/office/drawing/2014/main" id="{FC9F5279-517F-4B07-A82E-7190BBA4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05075"/>
            <a:ext cx="4810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Local single-process SQLite setup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No barcode scanning or offline mode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No staff roles or multi-location stock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No cause detection or ERP integration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Client feedback and utility certificate require real review</a:t>
            </a:r>
          </a:p>
        </p:txBody>
      </p:sp>
      <p:sp>
        <p:nvSpPr>
          <p:cNvPr id="11" name="text-140">
            <a:extLst xmlns:a="http://schemas.openxmlformats.org/drawingml/2006/main">
              <a:ext uri="{FF2B5EF4-FFF2-40B4-BE49-F238E27FC236}">
                <a16:creationId xmlns:a16="http://schemas.microsoft.com/office/drawing/2014/main" id="{6D0D1F91-9925-4FE2-A2F8-C2288B00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1061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24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1F"/>
                </a:solidFill>
                <a:latin typeface="Arial"/>
                <a:ea typeface="Arial"/>
                <a:cs typeface="Arial"/>
              </a:rPr>
              <a:t>Inventra completes the core loop: existing records → physical count → comparison → reviewable report.</a:t>
            </a:r>
          </a:p>
        </p:txBody>
      </p:sp>
    </p:spTree>
    <p:extLst>
      <p:ext uri="{BB962C8B-B14F-4D97-AF65-F5344CB8AC3E}">
        <p14:creationId xmlns:p14="http://schemas.microsoft.com/office/powerpoint/2010/main" val="76268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2026-10-01T09:44:23.4930000Z</dcterms:created>
  <dcterms:modified xsi:type="dcterms:W3CDTF">2026-10-01T09:44:23.4930000Z</dcterms:modified>
</coreProperties>
</file>